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69848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NanumSquare"/>
              </a:defRPr>
            </a:pPr>
            <a:r>
              <a:t>Indy7 IndyDCP3 + PLC + Arduino</a:t>
            </a:r>
            <a:br/>
            <a:r>
              <a:t>통합 제어 프로그램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46120"/>
            <a:ext cx="9418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NanumSquare"/>
              </a:defRPr>
            </a:pPr>
            <a:r>
              <a:t>GUI · Thread · 2×2 Pick &amp; Place · 1×2×2단 Palletizing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5074920"/>
            <a:ext cx="77724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D2DCE6"/>
                </a:solidFill>
                <a:latin typeface="NanumSquare"/>
              </a:defRPr>
            </a:pPr>
            <a:r>
              <a:t>강의자료 — 첨부 최종 프로그램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1.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IndyDCP3를 이용한 Indy7의 HOME / MoveL / Digital Output 제어를 이해한다.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Python PC가 PLC, Arduino, GUI, Robot을 통합하는 구조를 이해한다.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2×2 Pick &amp; Place와 1×2×2단 Palletizing 좌표 생성 원리를 이해한다.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Thread, Lock, 상승엣지 검출이 왜 필요한지 설명할 수 있다.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통신 오류와 프로그램 종료 시의 예외 처리 구조를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2. 전체 시스템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96112"/>
            <a:ext cx="10972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5C6670"/>
                </a:solidFill>
                <a:latin typeface="NanumSquare"/>
              </a:defRPr>
            </a:pPr>
            <a:r>
              <a:t>Python PC가 세 입력 경로를 받아 하나의 로봇 작업 함수로 연결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103120" cy="960120"/>
          </a:xfrm>
          <a:prstGeom prst="roundRect">
            <a:avLst/>
          </a:prstGeom>
          <a:solidFill>
            <a:srgbClr val="2D69A5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NanumSquare"/>
              </a:defRPr>
            </a:pPr>
            <a:r>
              <a:t>MELSEC PLC</a:t>
            </a:r>
            <a:br/>
            <a:r>
              <a:t>192.168.3.100:1026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86200"/>
            <a:ext cx="2103120" cy="960120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NanumSquare"/>
              </a:defRPr>
            </a:pPr>
            <a:r>
              <a:t>Arduino</a:t>
            </a:r>
            <a:br/>
            <a:r>
              <a:t>COM7 / 9600 bps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651760"/>
            <a:ext cx="2926080" cy="1280160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NanumSquare"/>
              </a:defRPr>
            </a:pPr>
            <a:r>
              <a:t>Python PC</a:t>
            </a:r>
            <a:br/>
            <a:r>
              <a:t>Tkinter + Threads</a:t>
            </a:r>
            <a:br/>
            <a:r>
              <a:t>IndyDCP3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1828800"/>
            <a:ext cx="2148840" cy="96012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NanumSquare"/>
              </a:defRPr>
            </a:pPr>
            <a:r>
              <a:t>Indy7 Robot</a:t>
            </a:r>
            <a:br/>
            <a:r>
              <a:t>192.168.3.2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64040" y="3886200"/>
            <a:ext cx="2148840" cy="960120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NanumSquare"/>
              </a:defRPr>
            </a:pPr>
            <a:r>
              <a:t>Arduino LCD</a:t>
            </a:r>
            <a:br/>
            <a:r>
              <a:t>START / FINISH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2286000"/>
            <a:ext cx="1965960" cy="777240"/>
          </a:xfrm>
          <a:prstGeom prst="line">
            <a:avLst/>
          </a:prstGeom>
          <a:ln w="2540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606040" y="3520440"/>
            <a:ext cx="1965960" cy="822960"/>
          </a:xfrm>
          <a:prstGeom prst="line">
            <a:avLst/>
          </a:prstGeom>
          <a:ln w="2540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498079" y="2286000"/>
            <a:ext cx="1965961" cy="777240"/>
          </a:xfrm>
          <a:prstGeom prst="line">
            <a:avLst/>
          </a:prstGeom>
          <a:ln w="2540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3520440"/>
            <a:ext cx="1965961" cy="822960"/>
          </a:xfrm>
          <a:prstGeom prst="line">
            <a:avLst/>
          </a:prstGeom>
          <a:ln w="2540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3. 사용 라이브러리와 역할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`threading` : 로봇 작업, PLC Listener, Arduino Listener를 동시에 처리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`tkinter`, `ScrolledText` : 상태 표시, 실행 버튼, 로그 창 구성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`neuromeka.IndyDCP3` : Indy7 모션 및 Digital Output 제어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`pymcprotocol.Type3E` : Mitsubishi PLC와 MC Protocol Ethernet 통신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`serial` : Arduino와 USB Serial 통신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`time` : 장비 초기화 및 Vacuum 동작 대기 시간 처리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4. 핵심 통신/로봇 설정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Robot IP = 192.168.3.2 / MOVE_VEL = 10 / MOVE_ACC = 10 / VACUUM_DO = 2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PLC IP = 192.168.3.100 / Port = 1026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PLC M100 = 작업1(OP1), M101 = 작업2(OP2)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Arduino = COM7 / 9600 bps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`indy = IndyDCP3(ROBOT_IP)`로 IndyDCP3 객체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5. GUI 화면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4846320" cy="59436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D46"/>
                </a:solidFill>
                <a:latin typeface="NanumSquare"/>
              </a:defRPr>
            </a:pPr>
            <a:r>
              <a:t>상태 Label : 대기 / 작업1 / 작업2 / 오류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4846320" cy="594360"/>
          </a:xfrm>
          <a:prstGeom prst="roundRect">
            <a:avLst/>
          </a:prstGeom>
          <a:solidFill>
            <a:srgbClr val="F5F7F9"/>
          </a:solidFill>
          <a:ln>
            <a:solidFill>
              <a:srgbClr val="5C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D46"/>
                </a:solidFill>
                <a:latin typeface="NanumSquare"/>
              </a:defRPr>
            </a:pPr>
            <a:r>
              <a:t>PLC 연결 상태 Label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26080"/>
            <a:ext cx="4846320" cy="594360"/>
          </a:xfrm>
          <a:prstGeom prst="roundRect">
            <a:avLst/>
          </a:prstGeom>
          <a:solidFill>
            <a:srgbClr val="F5F7F9"/>
          </a:solidFill>
          <a:ln>
            <a:solidFill>
              <a:srgbClr val="5C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D46"/>
                </a:solidFill>
                <a:latin typeface="NanumSquare"/>
              </a:defRPr>
            </a:pPr>
            <a:r>
              <a:t>Arduino 연결 상태 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03320"/>
            <a:ext cx="4846320" cy="1097280"/>
          </a:xfrm>
          <a:prstGeom prst="roundRect">
            <a:avLst/>
          </a:prstGeom>
          <a:solidFill>
            <a:srgbClr val="F5F7F9"/>
          </a:solidFill>
          <a:ln>
            <a:solidFill>
              <a:srgbClr val="5C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D46"/>
                </a:solidFill>
                <a:latin typeface="NanumSquare"/>
              </a:defRPr>
            </a:pPr>
            <a:r>
              <a:t>ScrolledText 로그 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1828800"/>
            <a:ext cx="4297680" cy="640080"/>
          </a:xfrm>
          <a:prstGeom prst="roundRect">
            <a:avLst/>
          </a:prstGeom>
          <a:solidFill>
            <a:srgbClr val="2D69A5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anumSquare"/>
              </a:defRPr>
            </a:pPr>
            <a:r>
              <a:t>작업1 실행 (OP1)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743200"/>
            <a:ext cx="4297680" cy="640080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anumSquare"/>
              </a:defRPr>
            </a:pPr>
            <a:r>
              <a:t>작업2 실행 (OP2)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840480"/>
            <a:ext cx="5120640" cy="1005840"/>
          </a:xfrm>
          <a:prstGeom prst="roundRect">
            <a:avLst/>
          </a:prstGeom>
          <a:solidFill>
            <a:srgbClr val="FFF4DC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0">
                <a:solidFill>
                  <a:srgbClr val="192D46"/>
                </a:solidFill>
                <a:latin typeface="NanumSquare"/>
              </a:defRPr>
            </a:pPr>
            <a:r>
              <a:t>버튼 command는 run_task1 / run_task2를 호출하고</a:t>
            </a:r>
            <a:br/>
            <a:r>
              <a:t>실제 로봇 작업은 별도 Thread에서 실행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6. 왜 safe_log()와 set_status()를 사용하는가?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Tkinter GUI는 메인 스레드에서 Widget을 변경하는 것이 안전하다.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로봇/PLC/Arduino 작업 스레드가 `log_box.insert()`를 직접 호출하지 않도록 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`window.after(0, log, msg)`는 로그 출력을 GUI 이벤트 큐에 등록한다.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`window.after(0, lambda: status_label.config(...))`도 같은 원리다.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결과: 로봇 동작 중에도 GUI가 멈추지 않고 상태가 갱신된다.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7. IndyDCP3 명령 결과와 이동 완료 검사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212080" cy="2148840"/>
          </a:xfrm>
          <a:prstGeom prst="roundRect">
            <a:avLst/>
          </a:prstGeom>
          <a:solidFill>
            <a:srgbClr val="20252B"/>
          </a:solidFill>
          <a:ln>
            <a:solidFill>
              <a:srgbClr val="3C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09728" rtlCol="0" anchor="ctr"/>
          <a:lstStyle/>
          <a:p>
            <a:pPr algn="ctr">
              <a:defRPr sz="1300">
                <a:solidFill>
                  <a:srgbClr val="FFFFFF"/>
                </a:solidFill>
                <a:latin typeface="DejaVu Sans Mono"/>
              </a:defRPr>
            </a:pPr>
            <a:r>
              <a:t>def result_ok(result):</a:t>
            </a:r>
            <a:br/>
            <a:r>
              <a:t>    if isinstance(result, dict):</a:t>
            </a:r>
            <a:br/>
            <a:r>
              <a:t>        code = result.get('code')</a:t>
            </a:r>
            <a:br/>
            <a:r>
              <a:t>        return str(code) == '0'</a:t>
            </a:r>
            <a:br/>
            <a:r>
              <a:t>    return True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25880"/>
            <a:ext cx="5394960" cy="2148840"/>
          </a:xfrm>
          <a:prstGeom prst="roundRect">
            <a:avLst/>
          </a:prstGeom>
          <a:solidFill>
            <a:srgbClr val="20252B"/>
          </a:solidFill>
          <a:ln>
            <a:solidFill>
              <a:srgbClr val="3C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09728" rtlCol="0" anchor="ctr"/>
          <a:lstStyle/>
          <a:p>
            <a:pPr algn="ctr">
              <a:defRPr sz="1300">
                <a:solidFill>
                  <a:srgbClr val="FFFFFF"/>
                </a:solidFill>
                <a:latin typeface="DejaVu Sans Mono"/>
              </a:defRPr>
            </a:pPr>
            <a:r>
              <a:t>def motion_done_check():</a:t>
            </a:r>
            <a:br/>
            <a:r>
              <a:t>    indy.wait_for_motion_state(</a:t>
            </a:r>
            <a:br/>
            <a:r>
              <a:t>        'is_target_reached'</a:t>
            </a:r>
            <a:br/>
            <a:r>
              <a:t>    )</a:t>
            </a:r>
            <a:br/>
            <a:r>
              <a:t>    return 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789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`code`가 정수 0 또는 문자열 "0"으로 올 수 있으므로 `str(code)`로 비교한다.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Move 명령이 반환되었다고 실제 로봇 이동이 끝난 것은 아니다.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`is_target_reached` 상태까지 기다린 뒤 다음 Pick/Place 명령을 실행한다.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8. move_linear() — Cartesian 직선 이동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입력: `[X, Y, Z, RX, RY, RZ]` 형태의 Task 좌표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`indy.movel(ttarget=target_position, vel_ratio=MOVE_VEL, acc_ratio=MOVE_ACC)` 실행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명령 결과를 `result_ok()`로 검사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정상일 때 `motion_done_check()`로 목표 도착까지 대기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OP1과 OP2의 모든 Approach / Pick / Retract / Place 동작이 이 함수를 공유한다.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9. HOME 및 Vacuum 제어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HOME: `indy.move_home()` → 결과 검사 → `wait_for_motion_state()`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Vacuum ON: DO 주소 2에 `state=True` 출력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Vacuum OFF: DO 주소 2에 `state=False` 출력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ON/OFF 후 각각 0.5초 대기하여 흡착/해제 시간을 확보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예외 발생 시에도 작업 함수에서 `vacuum_off()`를 시도한다.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10. generate_grid() 좌표 생성 원리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7315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92D46"/>
                </a:solidFill>
                <a:latin typeface="NanumSquare"/>
              </a:defRPr>
            </a:pPr>
            <a:r>
              <a:t>X = base[0] + j × offset_x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331720"/>
            <a:ext cx="5212080" cy="7315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92D46"/>
                </a:solidFill>
                <a:latin typeface="NanumSquare"/>
              </a:defRPr>
            </a:pPr>
            <a:r>
              <a:t>Y = base[1] + i × offset_y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91840"/>
            <a:ext cx="5212080" cy="7315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92D46"/>
                </a:solidFill>
                <a:latin typeface="NanumSquare"/>
              </a:defRPr>
            </a:pPr>
            <a:r>
              <a:t>Z = base[2] + layer × layer_h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17320"/>
            <a:ext cx="5029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`j` : X방향 Cell 번호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`i` : Y방향 Cell 번호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`layer` : 적층 층 번호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생성 결과는 `[x, y, z]` 리스트들의 리스트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4709160"/>
            <a:ext cx="4846320" cy="731520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NanumSquare"/>
              </a:defRPr>
            </a:pPr>
            <a:r>
              <a:t>하나의 함수로 2×2와 1×2×2단을 모두 생성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11. 작업1(OP1) — 2×2 Pick → 2×2 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PICK_BASE = [250.4689486, 333.77, 410.56]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PLACE_BASE = [154.8543564, 326.10, 410.56]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PICK_GRID = 2×2 / PLACE_GRID = 2×2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OFFSET_X = OFFSET_Y = 40 mm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RETRACT_Z = 50 mm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Pick 자세 ROT_P와 Place 자세 ROT_R을 각각 사용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0" y="150876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92D46"/>
                </a:solidFill>
                <a:latin typeface="NanumSquare"/>
              </a:defRPr>
            </a:pPr>
            <a:r>
              <a:t>PICK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103120"/>
            <a:ext cx="822960" cy="822960"/>
          </a:xfrm>
          <a:prstGeom prst="roundRect">
            <a:avLst/>
          </a:prstGeom>
          <a:solidFill>
            <a:srgbClr val="2D69A5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NanumSquare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103120"/>
            <a:ext cx="822960" cy="822960"/>
          </a:xfrm>
          <a:prstGeom prst="roundRect">
            <a:avLst/>
          </a:prstGeom>
          <a:solidFill>
            <a:srgbClr val="2D69A5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NanumSquare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3063239"/>
            <a:ext cx="822960" cy="822960"/>
          </a:xfrm>
          <a:prstGeom prst="roundRect">
            <a:avLst/>
          </a:prstGeom>
          <a:solidFill>
            <a:srgbClr val="2D69A5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NanumSquare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3063239"/>
            <a:ext cx="822960" cy="822960"/>
          </a:xfrm>
          <a:prstGeom prst="roundRect">
            <a:avLst/>
          </a:prstGeom>
          <a:solidFill>
            <a:srgbClr val="2D69A5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NanumSquare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508760"/>
            <a:ext cx="20116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92D46"/>
                </a:solidFill>
                <a:latin typeface="NanumSquare"/>
              </a:defRPr>
            </a:pPr>
            <a:r>
              <a:t>PLACE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2103120"/>
            <a:ext cx="822960" cy="822960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NanumSquare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2103120"/>
            <a:ext cx="822960" cy="822960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NanumSquare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3063239"/>
            <a:ext cx="822960" cy="822960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NanumSquare"/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87000" y="3063239"/>
            <a:ext cx="822960" cy="822960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NanumSquare"/>
              </a:defRPr>
            </a:pPr>
            <a:r>
              <a:t>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4297680"/>
            <a:ext cx="4937760" cy="914400"/>
          </a:xfrm>
          <a:prstGeom prst="roundRect">
            <a:avLst/>
          </a:prstGeom>
          <a:solidFill>
            <a:srgbClr val="FFF4DC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NanumSquare"/>
              </a:defRPr>
            </a:pPr>
            <a:r>
              <a:t>각 Cell: Approach(+50) → Target → Vacuum → Retract(+50)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12. 작업1(OP1) 상세 플로우차트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60520" y="1005840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OP1 시작 / Lock 획득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280160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60520" y="1321308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OP1_START → Arduino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595628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60520" y="1636776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Pick/Place Grid 생성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911095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60520" y="1952243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HOME 이동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226563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60520" y="2267711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Pick Approach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2542031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60520" y="2583179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Pick Target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857499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60520" y="2898647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Vacuum 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172967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60520" y="3214115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Pick Retract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3488435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60520" y="3529583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Place Approach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3803903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60520" y="3845051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Place Target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4119371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60520" y="4160519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Vacuum OFF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4434839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160520" y="4475987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Place Retract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4750307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4160520" y="4791455"/>
            <a:ext cx="3840480" cy="530352"/>
          </a:xfrm>
          <a:prstGeom prst="diamond">
            <a:avLst/>
          </a:prstGeom>
          <a:solidFill>
            <a:srgbClr val="FFF1D6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4개 완료?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5321807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160520" y="5362955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HOME → OP1_FINISH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1828800"/>
            <a:ext cx="2971800" cy="1188720"/>
          </a:xfrm>
          <a:prstGeom prst="roundRect">
            <a:avLst/>
          </a:prstGeom>
          <a:solidFill>
            <a:srgbClr val="2D69A5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NanumSquare"/>
              </a:defRPr>
            </a:pPr>
            <a:r>
              <a:t>반복 횟수</a:t>
            </a:r>
            <a:br/>
            <a:r>
              <a:t>len(pick_positions) = 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58200" y="2743200"/>
            <a:ext cx="2971800" cy="1325880"/>
          </a:xfrm>
          <a:prstGeom prst="roundRect">
            <a:avLst/>
          </a:prstGeom>
          <a:solidFill>
            <a:srgbClr val="FFEBEB"/>
          </a:solidFill>
          <a:ln>
            <a:solidFill>
              <a:srgbClr val="B9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92D46"/>
                </a:solidFill>
                <a:latin typeface="NanumSquare"/>
              </a:defRPr>
            </a:pPr>
            <a:r>
              <a:t>중간에 running=False 또는</a:t>
            </a:r>
            <a:br/>
            <a:r>
              <a:t>Move/Vacuum 실패 시</a:t>
            </a:r>
            <a:br/>
            <a:r>
              <a:t>반복을 중단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13. `*ROT_P`, `*ROT_R`의 의미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`pick = [X, Y, Z]`, `ROT_P = [RX, RY, RZ]`라고 가정한다.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`[pick[0], pick[1], pick[2], *ROT_P]`는 `[X, Y, Z, RX, RY, RZ]`가 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별표 `*`는 리스트의 원소를 개별 항목으로 펼치는 Unpacking 문법이다.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따라서 위치 3개 + 자세 3개를 IndyDCP3의 6축 Task Target으로 쉽게 결합한다.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14. 작업2(OP2) — 1×2×2단 Palletizing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PICK_BASE = [250.468, 373.77, 413.56] — 같은 Pick 위치 반복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PLACE_BASE = [154.85, 321.60, 410.56]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GRID_X=1, GRID_Y=2, NUM_LAYERS=2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OFFSET_Y=40 mm / LAYER_H=30 mm / RETRACT_Z=50 mm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총 Place 위치 = 1 × 2 × 2 = 4개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4114800"/>
            <a:ext cx="2651760" cy="713232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anumSquare"/>
              </a:defRPr>
            </a:pPr>
            <a:r>
              <a:t>Layer 1 / Position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3154680"/>
            <a:ext cx="2651760" cy="713232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anumSquare"/>
              </a:defRPr>
            </a:pPr>
            <a:r>
              <a:t>Layer 1 / Position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3950208"/>
            <a:ext cx="2651760" cy="713232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anumSquare"/>
              </a:defRPr>
            </a:pPr>
            <a:r>
              <a:t>Layer 2 / Position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990088"/>
            <a:ext cx="2651760" cy="713232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anumSquare"/>
              </a:defRPr>
            </a:pPr>
            <a:r>
              <a:t>Layer 2 / Position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463040"/>
            <a:ext cx="4114800" cy="64008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92D46"/>
                </a:solidFill>
                <a:latin typeface="NanumSquare"/>
              </a:defRPr>
            </a:pPr>
            <a:r>
              <a:t>Z₂ = Z₁ + 30 mm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15. 작업2(OP2) 상세 플로우차트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60520" y="1005840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OP2 시작 / Lock 획득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280160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60520" y="1321308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OP2_START → Arduino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595628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60520" y="1636776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4개 Place 좌표 생성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1911095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60520" y="1952243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HOME 이동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226563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60520" y="2267711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고정 Pick Approach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2542031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60520" y="2583179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고정 Pick Target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857499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60520" y="2898647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Vacuum 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3172967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60520" y="3214115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Pick Retract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3488435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60520" y="3529583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현재 Layer Place Approach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3803903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60520" y="3845051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Place Target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4119371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60520" y="4160519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Vacuum OFF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80760" y="4434839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160520" y="4475987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Place Retract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80760" y="4750307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Diamond 27"/>
          <p:cNvSpPr/>
          <p:nvPr/>
        </p:nvSpPr>
        <p:spPr>
          <a:xfrm>
            <a:off x="4160520" y="4791455"/>
            <a:ext cx="3840480" cy="530352"/>
          </a:xfrm>
          <a:prstGeom prst="diamond">
            <a:avLst/>
          </a:prstGeom>
          <a:solidFill>
            <a:srgbClr val="FFF1D6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4개 완료?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5321807"/>
            <a:ext cx="0" cy="4114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160520" y="5362955"/>
            <a:ext cx="3840480" cy="27432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HOME → OP2_FINISH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1828800"/>
            <a:ext cx="2971800" cy="1234440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FFFFFF"/>
                </a:solidFill>
                <a:latin typeface="NanumSquare"/>
              </a:defRPr>
            </a:pPr>
            <a:r>
              <a:t>Pick 위치는 고정</a:t>
            </a:r>
            <a:br/>
            <a:r>
              <a:t>Place 위치만 순서대로 변경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0" y="2743200"/>
            <a:ext cx="3063240" cy="1280160"/>
          </a:xfrm>
          <a:prstGeom prst="roundRect">
            <a:avLst/>
          </a:prstGeom>
          <a:solidFill>
            <a:srgbClr val="FFF4DC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92D46"/>
                </a:solidFill>
                <a:latin typeface="NanumSquare"/>
              </a:defRPr>
            </a:pPr>
            <a:r>
              <a:t>2층에서는</a:t>
            </a:r>
            <a:br/>
            <a:r>
              <a:t>Z = BASE_Z + 30 mm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16. task_lock — 동시 로봇 명령 방지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GUI 버튼, PLC, Arduino 모두 OP1/OP2를 시작할 수 있다.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동시에 두 입력이 들어오면 두 Thread가 하나의 Indy7에 서로 다른 모션을 보낼 위험이 있다.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`task_lock.acquire(blocking=False)`가 성공한 작업만 로봇을 사용한다.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이미 Lock이 사용 중이면 기다리지 않고 경고 후 즉시 return한다.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작업 종료 시 `finally: task_lock.release()`로 반드시 Lock을 반환한다.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17. 프로그램의 Thread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89120" y="1280160"/>
            <a:ext cx="3383280" cy="822960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NanumSquare"/>
              </a:defRPr>
            </a:pPr>
            <a:r>
              <a:t>Tkinter Main Thread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926080"/>
            <a:ext cx="2148840" cy="914400"/>
          </a:xfrm>
          <a:prstGeom prst="roundRect">
            <a:avLst/>
          </a:prstGeom>
          <a:solidFill>
            <a:srgbClr val="2D69A5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anumSquare"/>
              </a:defRPr>
            </a:pPr>
            <a:r>
              <a:t>PLC Listener</a:t>
            </a:r>
            <a:br/>
            <a:r>
              <a:t>50 ms Polling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4251960"/>
            <a:ext cx="2148840" cy="91440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anumSquare"/>
              </a:defRPr>
            </a:pPr>
            <a:r>
              <a:t>OP1 / OP2</a:t>
            </a:r>
            <a:br/>
            <a:r>
              <a:t>Robot Task Thread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4251960"/>
            <a:ext cx="2148840" cy="914400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anumSquare"/>
              </a:defRPr>
            </a:pPr>
            <a:r>
              <a:t>GUI Event</a:t>
            </a:r>
            <a:br/>
            <a:r>
              <a:t>Button / Log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2926080"/>
            <a:ext cx="2148840" cy="914400"/>
          </a:xfrm>
          <a:prstGeom prst="roundRect">
            <a:avLst/>
          </a:prstGeom>
          <a:solidFill>
            <a:srgbClr val="2D69A5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anumSquare"/>
              </a:defRPr>
            </a:pPr>
            <a:r>
              <a:t>Arduino Listener</a:t>
            </a:r>
            <a:br/>
            <a:r>
              <a:t>50 ms Polling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737360" y="2103120"/>
            <a:ext cx="3291840" cy="822960"/>
          </a:xfrm>
          <a:prstGeom prst="line">
            <a:avLst/>
          </a:prstGeom>
          <a:ln w="1905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572000" y="2103120"/>
            <a:ext cx="1280160" cy="2148840"/>
          </a:xfrm>
          <a:prstGeom prst="line">
            <a:avLst/>
          </a:prstGeom>
          <a:ln w="1905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09360" y="2103120"/>
            <a:ext cx="1280160" cy="2148840"/>
          </a:xfrm>
          <a:prstGeom prst="line">
            <a:avLst/>
          </a:prstGeom>
          <a:ln w="1905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32320" y="2103120"/>
            <a:ext cx="3291840" cy="822960"/>
          </a:xfrm>
          <a:prstGeom prst="line">
            <a:avLst/>
          </a:prstGeom>
          <a:ln w="1905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0" y="5623560"/>
            <a:ext cx="6766560" cy="548640"/>
          </a:xfrm>
          <a:prstGeom prst="roundRect">
            <a:avLst/>
          </a:prstGeom>
          <a:solidFill>
            <a:srgbClr val="F5F7F9"/>
          </a:solidFill>
          <a:ln>
            <a:solidFill>
              <a:srgbClr val="5C6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0">
                <a:solidFill>
                  <a:srgbClr val="192D46"/>
                </a:solidFill>
                <a:latin typeface="NanumSquare"/>
              </a:defRPr>
            </a:pPr>
            <a:r>
              <a:t>daemon=True : 메인 프로그램 종료 시 Listener/작업 Thread도 함께 종료 가능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18. PLC Listener — M100/M101 상승엣지 검출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486400" cy="2423160"/>
          </a:xfrm>
          <a:prstGeom prst="roundRect">
            <a:avLst/>
          </a:prstGeom>
          <a:solidFill>
            <a:srgbClr val="20252B"/>
          </a:solidFill>
          <a:ln>
            <a:solidFill>
              <a:srgbClr val="3C4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09728" rtlCol="0" anchor="ctr"/>
          <a:lstStyle/>
          <a:p>
            <a:pPr algn="ctr">
              <a:defRPr sz="1200">
                <a:solidFill>
                  <a:srgbClr val="FFFFFF"/>
                </a:solidFill>
                <a:latin typeface="DejaVu Sans Mono"/>
              </a:defRPr>
            </a:pPr>
            <a:r>
              <a:t>op1 = plc.batchread_bitunits(</a:t>
            </a:r>
            <a:br/>
            <a:r>
              <a:t>    headdevice='M100', readsize=1</a:t>
            </a:r>
            <a:br/>
            <a:r>
              <a:t>)[0]</a:t>
            </a:r>
            <a:br/>
            <a:br/>
            <a:r>
              <a:t>if op1 == 1 and prev_op1 == 0:</a:t>
            </a:r>
            <a:br/>
            <a:r>
              <a:t>    run_task1()</a:t>
            </a:r>
            <a:br/>
            <a:r>
              <a:t>prev_op1 = op1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25880"/>
            <a:ext cx="51206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92D46"/>
                </a:solidFill>
                <a:latin typeface="NanumSquare"/>
              </a:defRPr>
            </a:pPr>
            <a:r>
              <a:t>PLC 입력이 1인 동안 매 50 ms마다 작업을 다시 실행하면 안 된다.</a:t>
            </a:r>
          </a:p>
          <a:p>
            <a:pPr>
              <a:spcAft>
                <a:spcPts val="700"/>
              </a:spcAft>
              <a:defRPr sz="1600">
                <a:solidFill>
                  <a:srgbClr val="192D46"/>
                </a:solidFill>
                <a:latin typeface="NanumSquare"/>
              </a:defRPr>
            </a:pPr>
            <a:r>
              <a:t>현재값 1 + 이전값 0인 순간만 0→1 상승엣지로 판단한다.</a:t>
            </a:r>
          </a:p>
          <a:p>
            <a:pPr>
              <a:spcAft>
                <a:spcPts val="700"/>
              </a:spcAft>
              <a:defRPr sz="1600">
                <a:solidFill>
                  <a:srgbClr val="192D46"/>
                </a:solidFill>
                <a:latin typeface="NanumSquare"/>
              </a:defRPr>
            </a:pPr>
            <a:r>
              <a:t>M100을 계속 누르고 있어도 OP1은 한 번만 시작된다.</a:t>
            </a:r>
          </a:p>
          <a:p>
            <a:pPr>
              <a:spcAft>
                <a:spcPts val="700"/>
              </a:spcAft>
              <a:defRPr sz="1600">
                <a:solidFill>
                  <a:srgbClr val="192D46"/>
                </a:solidFill>
                <a:latin typeface="NanumSquare"/>
              </a:defRPr>
            </a:pPr>
            <a:r>
              <a:t>M101도 같은 방식으로 OP2를 실행한다.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4846320"/>
            <a:ext cx="914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92D46"/>
                </a:solidFill>
                <a:latin typeface="NanumSquare"/>
              </a:defRPr>
            </a:pPr>
            <a:r>
              <a:t>M100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498079" y="5212080"/>
            <a:ext cx="731521" cy="0"/>
          </a:xfrm>
          <a:prstGeom prst="line">
            <a:avLst/>
          </a:prstGeom>
          <a:ln w="254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8229600" y="4754880"/>
            <a:ext cx="0" cy="457200"/>
          </a:xfrm>
          <a:prstGeom prst="line">
            <a:avLst/>
          </a:prstGeom>
          <a:ln w="25400">
            <a:solidFill>
              <a:srgbClr val="B94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229600" y="4754880"/>
            <a:ext cx="1828800" cy="0"/>
          </a:xfrm>
          <a:prstGeom prst="line">
            <a:avLst/>
          </a:prstGeom>
          <a:ln w="254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18120" y="539496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B94141"/>
                </a:solidFill>
                <a:latin typeface="NanumSquare"/>
              </a:defRPr>
            </a:pPr>
            <a:r>
              <a:t>여기서 1회 실행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19. PLC 읽기문의 `[0]` 의미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`batchread_bitunits(..., readsize=1)`은 읽은 비트들을 리스트 형태로 반환한다.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예: M100=1이면 반환값을 `[1]`로 생각할 수 있다.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뒤의 `[0]`은 그 리스트의 첫 번째 값을 꺼내 `op1`에 저장한다.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따라서 `op1`은 리스트가 아니라 0 또는 1 값으로 비교할 수 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20. Arduino 양방향 문자열 통신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Python → Arduino: `lcd_send("OP1_START")`, `OP1_FINISH`, `OP2_START`, `OP2_FINISH`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Arduino → Python: 한 줄 문자열 `OP1` 또는 `OP2` 수신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`arduino.readline().decode(errors="ignore").strip()`으로 bytes → 문자열 변환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`arduino.in_waiting`이 있을 때만 읽으므로 불필요한 blocking을 줄인다.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Arduino에서 OP1을 보내도 GUI/PLC와 동일한 `run_task1()`이 호출된다.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21. 세 가지 작업 시작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2468880" cy="594360"/>
          </a:xfrm>
          <a:prstGeom prst="roundRect">
            <a:avLst/>
          </a:prstGeom>
          <a:solidFill>
            <a:srgbClr val="2D69A5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anumSquare"/>
              </a:defRPr>
            </a:pPr>
            <a:r>
              <a:t>GUI OP1 버튼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2468880" cy="594360"/>
          </a:xfrm>
          <a:prstGeom prst="roundRect">
            <a:avLst/>
          </a:prstGeom>
          <a:solidFill>
            <a:srgbClr val="37875A"/>
          </a:solidFill>
          <a:ln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anumSquare"/>
              </a:defRPr>
            </a:pPr>
            <a:r>
              <a:t>PLC M100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46120"/>
            <a:ext cx="2468880" cy="594360"/>
          </a:xfrm>
          <a:prstGeom prst="roundRect">
            <a:avLst/>
          </a:prstGeom>
          <a:solidFill>
            <a:srgbClr val="DC8737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anumSquare"/>
              </a:defRPr>
            </a:pPr>
            <a:r>
              <a:t>Arduino "OP1"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331720"/>
            <a:ext cx="2834640" cy="777240"/>
          </a:xfrm>
          <a:prstGeom prst="roundRect">
            <a:avLst/>
          </a:prstGeom>
          <a:solidFill>
            <a:srgbClr val="192D46"/>
          </a:solidFill>
          <a:ln>
            <a:solidFill>
              <a:srgbClr val="19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FFFFFF"/>
                </a:solidFill>
                <a:latin typeface="NanumSquare"/>
              </a:defRPr>
            </a:pPr>
            <a:r>
              <a:t>run_task1()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331720"/>
            <a:ext cx="2560320" cy="777240"/>
          </a:xfrm>
          <a:prstGeom prst="roundRect">
            <a:avLst/>
          </a:prstGeom>
          <a:solidFill>
            <a:srgbClr val="2D69A5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NanumSquare"/>
              </a:defRPr>
            </a:pPr>
            <a:r>
              <a:t>task_pick2by2_</a:t>
            </a:r>
            <a:br/>
            <a:r>
              <a:t>place2by2()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0400" y="1709928"/>
            <a:ext cx="1417320" cy="1005840"/>
          </a:xfrm>
          <a:prstGeom prst="line">
            <a:avLst/>
          </a:prstGeom>
          <a:ln w="1905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0" y="2624328"/>
            <a:ext cx="1417320" cy="91440"/>
          </a:xfrm>
          <a:prstGeom prst="line">
            <a:avLst/>
          </a:prstGeom>
          <a:ln w="1905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200400" y="2715768"/>
            <a:ext cx="1417320" cy="822960"/>
          </a:xfrm>
          <a:prstGeom prst="line">
            <a:avLst/>
          </a:prstGeom>
          <a:ln w="1905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52360" y="2715768"/>
            <a:ext cx="1371600" cy="0"/>
          </a:xfrm>
          <a:prstGeom prst="line">
            <a:avLst/>
          </a:prstGeom>
          <a:ln w="2286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011680" y="4572000"/>
            <a:ext cx="8138160" cy="82296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92D46"/>
                </a:solidFill>
                <a:latin typeface="NanumSquare"/>
              </a:defRPr>
            </a:pPr>
            <a:r>
              <a:t>입력 장치는 달라도 실제 작업 함수는 하나 → 코드 중복 감소 / 유지보수 용이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22. 프로그램 종료(on_closing)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`running = False`로 Listener와 작업 반복문의 종료 조건을 만든다.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Indy7 Vacuum DO를 False로 출력하여 흡착 해제를 시도한다.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Arduino Serial Port가 열려 있으면 close()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PLC가 연결되어 있으면 plc.close()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마지막으로 `window.destroy()`로 GUI를 종료한다.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Windows 창의 X 버튼은 `window.protocol("WM_DELETE_WINDOW", on_closing)`에 연결된다.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23. 예외 처리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PLC와 Arduino는 연결 실패 시 프로그램 전체를 즉시 종료하지 않고 연결 상태를 False로 둔다.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각 Listener 내부 통신 오류는 로그를 남기고 1초 대기 후 다시 반복한다.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Robot Move / HOME / Vacuum 함수는 예외를 잡아 False를 반환한다.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작업 함수는 False가 반환되면 현재 반복을 중단한다.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`finally`는 정상/오류와 관계없이 task_lock을 해제한다.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24. 전체 프로그램 동작 순서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60520" y="1051560"/>
            <a:ext cx="3886200" cy="310896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프로그램 시작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103620" y="1362456"/>
            <a:ext cx="0" cy="6400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160520" y="1426464"/>
            <a:ext cx="3886200" cy="310896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IndyDCP3 객체 생성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03620" y="1737360"/>
            <a:ext cx="0" cy="6400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160520" y="1801368"/>
            <a:ext cx="3886200" cy="310896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PLC 연결 시도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03620" y="2112264"/>
            <a:ext cx="0" cy="6400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60520" y="2176272"/>
            <a:ext cx="3886200" cy="310896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Arduino 연결 시도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03620" y="2487168"/>
            <a:ext cx="0" cy="6400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160520" y="2551176"/>
            <a:ext cx="3886200" cy="310896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Tkinter GUI 생성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03620" y="2862072"/>
            <a:ext cx="0" cy="6400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60520" y="2926080"/>
            <a:ext cx="3886200" cy="310896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PLC Listener 시작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03620" y="3236976"/>
            <a:ext cx="0" cy="6400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160520" y="3300984"/>
            <a:ext cx="3886200" cy="310896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Arduino Listener 시작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03620" y="3611880"/>
            <a:ext cx="0" cy="6400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160520" y="3675888"/>
            <a:ext cx="3886200" cy="310896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GUI mainloop()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103620" y="3986784"/>
            <a:ext cx="0" cy="6400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iamond 19"/>
          <p:cNvSpPr/>
          <p:nvPr/>
        </p:nvSpPr>
        <p:spPr>
          <a:xfrm>
            <a:off x="4160520" y="4050792"/>
            <a:ext cx="3886200" cy="530352"/>
          </a:xfrm>
          <a:prstGeom prst="diamond">
            <a:avLst/>
          </a:prstGeom>
          <a:solidFill>
            <a:srgbClr val="FFF1D6"/>
          </a:solidFill>
          <a:ln>
            <a:solidFill>
              <a:srgbClr val="DC8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OP1/OP2 입력 발생?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03620" y="4581144"/>
            <a:ext cx="0" cy="6400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160520" y="4645152"/>
            <a:ext cx="3886200" cy="310896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Lock 획득 → 작업 Thread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03620" y="4956048"/>
            <a:ext cx="0" cy="6400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160520" y="5020056"/>
            <a:ext cx="3886200" cy="310896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Robot HOME / Pick / Place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03620" y="5330952"/>
            <a:ext cx="0" cy="64008"/>
          </a:xfrm>
          <a:prstGeom prst="line">
            <a:avLst/>
          </a:prstGeom>
          <a:ln w="16510">
            <a:solidFill>
              <a:srgbClr val="5C6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4160520" y="5394960"/>
            <a:ext cx="3886200" cy="310896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92D46"/>
                </a:solidFill>
                <a:latin typeface="NanumSquare"/>
              </a:defRPr>
            </a:pPr>
            <a:r>
              <a:t>완료 메시지 / 대기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1920240"/>
            <a:ext cx="2926080" cy="1143000"/>
          </a:xfrm>
          <a:prstGeom prst="roundRect">
            <a:avLst/>
          </a:prstGeom>
          <a:solidFill>
            <a:srgbClr val="E1EFFA"/>
          </a:solidFill>
          <a:ln>
            <a:solidFill>
              <a:srgbClr val="2D69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D46"/>
                </a:solidFill>
                <a:latin typeface="NanumSquare"/>
              </a:defRPr>
            </a:pPr>
            <a:r>
              <a:t>GUI mainloop는 계속 실행되며</a:t>
            </a:r>
            <a:br/>
            <a:r>
              <a:t>Listener는 백그라운드에서</a:t>
            </a:r>
            <a:br/>
            <a:r>
              <a:t>입력을 감시한다.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25. 실습 시 확인할 항목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PLC Ethernet 설정이 192.168.3.100 / 1026과 일치하는지 확인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PC에서 COM7이 실제 Arduino 포트인지 확인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Indy7 IP 192.168.3.2 통신 확인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Vacuum 장치가 DO 2에 연결되어 있는지 확인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좌표와 Tool/TCP 방향을 실제 장비에서 저속으로 확인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MOVE_VEL=10, MOVE_ACC=10 상태에서 Dry Run 후 흡착 작업 실시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OP1/OP2를 동시에 입력했을 때 Lock 경고가 정상 출력되는지 확인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26. 강의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IndyDCP3의 핵심 제어 함수: `move_home()`, `movel()`, `set_do()`, `wait_for_motion_state()`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Grid 좌표 계산으로 반복 Pick &amp; Place와 다층 Palletizing을 일반화할 수 있다.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Thread는 GUI 정지 없이 PLC/Arduino/Robot을 동시에 다루게 해 준다.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task_lock은 하나의 Robot에 두 작업이 동시에 명령되는 것을 방지한다.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PLC 상승엣지 검출은 ON 유지 신호에 의한 중복 실행을 방지한다.</a:t>
            </a:r>
          </a:p>
          <a:p>
            <a:pPr>
              <a:spcAft>
                <a:spcPts val="700"/>
              </a:spcAft>
              <a:defRPr sz="1800">
                <a:solidFill>
                  <a:srgbClr val="192D46"/>
                </a:solidFill>
                <a:latin typeface="NanumSquare"/>
              </a:defRPr>
            </a:pPr>
            <a:r>
              <a:t>입력 장치가 달라도 공통 작업 함수를 호출하는 구조가 프로그램을 단순하게 만든다.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D46"/>
                </a:solidFill>
                <a:latin typeface="NanumSquare"/>
              </a:defRPr>
            </a:pPr>
            <a:r>
              <a:t>27. 함수별 역할 한눈에 보기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005840" cy="45720"/>
          </a:xfrm>
          <a:prstGeom prst="rect">
            <a:avLst/>
          </a:prstGeom>
          <a:solidFill>
            <a:srgbClr val="2D6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`log / safe_log / set_status` : GUI 표시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`lcd_send` : Python → Arduino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`result_ok` : IndyDCP3 결과 code 확인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`motion_done_check` : 목표 도달 대기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`move_linear / robot_home / vacuum_on/off` : Robot 제어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`generate_grid` : Pick/Place 좌표 생성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`task_pick2by2_place2by2` : OP1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`task_pal_1by2_2layer` : OP2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`plc_listener / serial_listener` : 외부 입력 감시</a:t>
            </a:r>
          </a:p>
          <a:p>
            <a:pPr>
              <a:spcAft>
                <a:spcPts val="700"/>
              </a:spcAft>
              <a:defRPr sz="1700">
                <a:solidFill>
                  <a:srgbClr val="192D46"/>
                </a:solidFill>
                <a:latin typeface="NanumSquare"/>
              </a:defRPr>
            </a:pPr>
            <a:r>
              <a:t>`on_closing` : 종료 처리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2285</Words>
  <Application>Microsoft Office PowerPoint</Application>
  <PresentationFormat>와이드스크린</PresentationFormat>
  <Paragraphs>230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1</cp:revision>
  <dcterms:created xsi:type="dcterms:W3CDTF">2013-01-27T09:14:16Z</dcterms:created>
  <dcterms:modified xsi:type="dcterms:W3CDTF">2026-09-30T02:20:41Z</dcterms:modified>
  <cp:category/>
</cp:coreProperties>
</file>